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nva Sans" panose="020B0604020202020204" charset="0"/>
      <p:regular r:id="rId17"/>
    </p:embeddedFont>
    <p:embeddedFont>
      <p:font typeface="Canva Sans Bold" panose="020B0604020202020204" charset="0"/>
      <p:regular r:id="rId18"/>
    </p:embeddedFont>
    <p:embeddedFont>
      <p:font typeface="Lato" panose="020F0502020204030203" pitchFamily="34" charset="0"/>
      <p:regular r:id="rId19"/>
    </p:embeddedFont>
    <p:embeddedFont>
      <p:font typeface="Lato Bold" panose="020F0502020204030203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numpy.org/doc" TargetMode="External"/><Relationship Id="rId3" Type="http://schemas.openxmlformats.org/officeDocument/2006/relationships/image" Target="../media/image4.svg"/><Relationship Id="rId7" Type="http://schemas.openxmlformats.org/officeDocument/2006/relationships/hyperlink" Target="https://docs.python.or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kaggle.com" TargetMode="External"/><Relationship Id="rId5" Type="http://schemas.openxmlformats.org/officeDocument/2006/relationships/image" Target="../media/image6.svg"/><Relationship Id="rId10" Type="http://schemas.openxmlformats.org/officeDocument/2006/relationships/hyperlink" Target="https://matplotlib.org/stable/users/index.html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pandas.pydata.org/doc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 flipV="1">
            <a:off x="12243312" y="7728224"/>
            <a:ext cx="8123999" cy="6705992"/>
          </a:xfrm>
          <a:custGeom>
            <a:avLst/>
            <a:gdLst/>
            <a:ahLst/>
            <a:cxnLst/>
            <a:rect l="l" t="t" r="r" b="b"/>
            <a:pathLst>
              <a:path w="8123999" h="6705992">
                <a:moveTo>
                  <a:pt x="8123999" y="6705992"/>
                </a:moveTo>
                <a:lnTo>
                  <a:pt x="0" y="6705992"/>
                </a:lnTo>
                <a:lnTo>
                  <a:pt x="0" y="0"/>
                </a:lnTo>
                <a:lnTo>
                  <a:pt x="8123999" y="0"/>
                </a:lnTo>
                <a:lnTo>
                  <a:pt x="8123999" y="670599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2249197" y="2844200"/>
            <a:ext cx="13789606" cy="641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2"/>
              </a:lnSpc>
            </a:pPr>
            <a:r>
              <a:rPr lang="en-US" sz="8001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MILITARY AIRCRAFT PERFORMANCE </a:t>
            </a:r>
          </a:p>
          <a:p>
            <a:pPr algn="ctr">
              <a:lnSpc>
                <a:spcPts val="11202"/>
              </a:lnSpc>
            </a:pPr>
            <a:r>
              <a:rPr lang="en-US" sz="8001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ANALYSIS</a:t>
            </a:r>
          </a:p>
          <a:p>
            <a:pPr algn="ctr">
              <a:lnSpc>
                <a:spcPts val="17781"/>
              </a:lnSpc>
            </a:pPr>
            <a:endParaRPr lang="en-US" sz="8001" b="1">
              <a:solidFill>
                <a:srgbClr val="140C0C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-791191" y="1475746"/>
            <a:ext cx="9483250" cy="125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68"/>
              </a:lnSpc>
            </a:pPr>
            <a:r>
              <a:rPr lang="en-US" sz="733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ABSTRACT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58230" y="3690081"/>
            <a:ext cx="14663095" cy="3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1"/>
              </a:lnSpc>
            </a:pPr>
            <a:r>
              <a:rPr lang="en-US" sz="3729" spc="-11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This project focuses on analyzing and comparing military aircraft based on their performance characteristics. It identifies key trends, differences, and capabilities among aircraft to provide a better understanding of military aviation systems.</a:t>
            </a:r>
          </a:p>
          <a:p>
            <a:pPr algn="ctr">
              <a:lnSpc>
                <a:spcPts val="5221"/>
              </a:lnSpc>
            </a:pPr>
            <a:endParaRPr lang="en-US" sz="3729" spc="-119">
              <a:solidFill>
                <a:srgbClr val="140C0C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01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AutoShape 12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AutoShape 13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699091" y="1178370"/>
            <a:ext cx="7043514" cy="4586474"/>
          </a:xfrm>
          <a:custGeom>
            <a:avLst/>
            <a:gdLst/>
            <a:ahLst/>
            <a:cxnLst/>
            <a:rect l="l" t="t" r="r" b="b"/>
            <a:pathLst>
              <a:path w="7043514" h="4586474">
                <a:moveTo>
                  <a:pt x="0" y="0"/>
                </a:moveTo>
                <a:lnTo>
                  <a:pt x="7043514" y="0"/>
                </a:lnTo>
                <a:lnTo>
                  <a:pt x="7043514" y="4586474"/>
                </a:lnTo>
                <a:lnTo>
                  <a:pt x="0" y="45864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9391345" y="4575252"/>
            <a:ext cx="7060062" cy="4263043"/>
          </a:xfrm>
          <a:custGeom>
            <a:avLst/>
            <a:gdLst/>
            <a:ahLst/>
            <a:cxnLst/>
            <a:rect l="l" t="t" r="r" b="b"/>
            <a:pathLst>
              <a:path w="7060062" h="4263043">
                <a:moveTo>
                  <a:pt x="0" y="0"/>
                </a:moveTo>
                <a:lnTo>
                  <a:pt x="7060062" y="0"/>
                </a:lnTo>
                <a:lnTo>
                  <a:pt x="7060062" y="4263043"/>
                </a:lnTo>
                <a:lnTo>
                  <a:pt x="0" y="42630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549065"/>
            <a:ext cx="14648114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>
            <a:off x="4933301" y="737935"/>
            <a:ext cx="1232599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1192866"/>
            <a:ext cx="7141925" cy="2530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8"/>
              </a:lnSpc>
            </a:pPr>
            <a:r>
              <a:rPr lang="en-US" sz="723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INTRODUCTION</a:t>
            </a:r>
          </a:p>
          <a:p>
            <a:pPr algn="l">
              <a:lnSpc>
                <a:spcPts val="10128"/>
              </a:lnSpc>
            </a:pPr>
            <a:endParaRPr lang="en-US" sz="7234" b="1">
              <a:solidFill>
                <a:srgbClr val="140C0C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57826" y="3115739"/>
            <a:ext cx="15332810" cy="6142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20"/>
              </a:lnSpc>
            </a:pPr>
            <a:r>
              <a:rPr lang="en-US" sz="3871" spc="-123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•Military aircraft play a vital role in defense, surveillance, and combat operations.</a:t>
            </a:r>
          </a:p>
          <a:p>
            <a:pPr algn="l">
              <a:lnSpc>
                <a:spcPts val="5420"/>
              </a:lnSpc>
            </a:pPr>
            <a:r>
              <a:rPr lang="en-US" sz="3871" spc="-123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•Different aircraft are designed with unique capabilities and performance characteristics.</a:t>
            </a:r>
          </a:p>
          <a:p>
            <a:pPr algn="l">
              <a:lnSpc>
                <a:spcPts val="5420"/>
              </a:lnSpc>
            </a:pPr>
            <a:r>
              <a:rPr lang="en-US" sz="3871" spc="-123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•Comparing aircraft performance helps in understanding their strengths and operational efficiency.</a:t>
            </a:r>
          </a:p>
          <a:p>
            <a:pPr algn="l">
              <a:lnSpc>
                <a:spcPts val="5420"/>
              </a:lnSpc>
            </a:pPr>
            <a:r>
              <a:rPr lang="en-US" sz="3871" spc="-123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•This project analyzes key aircraft parameters such as speed, combat range, generation, and cost.</a:t>
            </a:r>
          </a:p>
          <a:p>
            <a:pPr algn="l">
              <a:lnSpc>
                <a:spcPts val="5420"/>
              </a:lnSpc>
            </a:pPr>
            <a:endParaRPr lang="en-US" sz="3871" spc="-123">
              <a:solidFill>
                <a:srgbClr val="140C0C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03</a:t>
            </a:r>
          </a:p>
        </p:txBody>
      </p:sp>
      <p:sp>
        <p:nvSpPr>
          <p:cNvPr id="7" name="Freeform 7"/>
          <p:cNvSpPr/>
          <p:nvPr/>
        </p:nvSpPr>
        <p:spPr>
          <a:xfrm>
            <a:off x="17588978" y="4303884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1" y="0"/>
                </a:lnTo>
                <a:lnTo>
                  <a:pt x="2546231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04</a:t>
            </a:r>
          </a:p>
        </p:txBody>
      </p:sp>
      <p:sp>
        <p:nvSpPr>
          <p:cNvPr id="13" name="AutoShape 13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AutoShape 14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331453" y="1333554"/>
            <a:ext cx="6779304" cy="125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68"/>
              </a:lnSpc>
            </a:pPr>
            <a:r>
              <a:rPr lang="en-US" sz="733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DESCRIPTION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38117" y="3082085"/>
            <a:ext cx="14583826" cy="6447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7911" lvl="1" indent="-438955" algn="l">
              <a:lnSpc>
                <a:spcPts val="5692"/>
              </a:lnSpc>
              <a:buFont typeface="Arial"/>
              <a:buChar char="•"/>
            </a:pPr>
            <a:r>
              <a:rPr lang="en-US" sz="4066" spc="-13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This project focuses on the analysis of military fighter aircraft performance using a Kaggle dataset.</a:t>
            </a:r>
          </a:p>
          <a:p>
            <a:pPr marL="877911" lvl="1" indent="-438955" algn="l">
              <a:lnSpc>
                <a:spcPts val="5692"/>
              </a:lnSpc>
              <a:buFont typeface="Arial"/>
              <a:buChar char="•"/>
            </a:pPr>
            <a:r>
              <a:rPr lang="en-US" sz="4066" spc="-13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The dataset includes aircraft name,country,generation,role,maximum speed etc.</a:t>
            </a:r>
          </a:p>
          <a:p>
            <a:pPr marL="877911" lvl="1" indent="-438955" algn="l">
              <a:lnSpc>
                <a:spcPts val="5692"/>
              </a:lnSpc>
              <a:buFont typeface="Arial"/>
              <a:buChar char="•"/>
            </a:pPr>
            <a:r>
              <a:rPr lang="en-US" sz="4066" spc="-13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Data cleaning,sorting,and grouping techniques were used for better analysis.</a:t>
            </a:r>
          </a:p>
          <a:p>
            <a:pPr marL="877911" lvl="1" indent="-438955" algn="l">
              <a:lnSpc>
                <a:spcPts val="5692"/>
              </a:lnSpc>
              <a:buFont typeface="Arial"/>
              <a:buChar char="•"/>
            </a:pPr>
            <a:r>
              <a:rPr lang="en-US" sz="4066" spc="-13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The results help identify the fastest,most expensive,and highest combat range aircraft.</a:t>
            </a:r>
          </a:p>
          <a:p>
            <a:pPr algn="l">
              <a:lnSpc>
                <a:spcPts val="5692"/>
              </a:lnSpc>
            </a:pPr>
            <a:endParaRPr lang="en-US" sz="4066" spc="-130">
              <a:solidFill>
                <a:srgbClr val="140C0C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05</a:t>
            </a:r>
          </a:p>
        </p:txBody>
      </p:sp>
      <p:sp>
        <p:nvSpPr>
          <p:cNvPr id="13" name="AutoShape 13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AutoShape 14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777978" y="1456134"/>
            <a:ext cx="6779304" cy="125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68"/>
              </a:lnSpc>
            </a:pPr>
            <a:r>
              <a:rPr lang="en-US" sz="733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OBJECTIVES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16202" y="3518057"/>
            <a:ext cx="13560612" cy="4251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8"/>
              </a:lnSpc>
            </a:pPr>
            <a:r>
              <a:rPr lang="en-US" sz="4020" spc="-12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•Collect and analyze fighter aircraft dataset.</a:t>
            </a:r>
          </a:p>
          <a:p>
            <a:pPr algn="l">
              <a:lnSpc>
                <a:spcPts val="5628"/>
              </a:lnSpc>
            </a:pPr>
            <a:r>
              <a:rPr lang="en-US" sz="4020" spc="-12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•Compare aircraft based on maximum speed.</a:t>
            </a:r>
          </a:p>
          <a:p>
            <a:pPr algn="l">
              <a:lnSpc>
                <a:spcPts val="5628"/>
              </a:lnSpc>
            </a:pPr>
            <a:r>
              <a:rPr lang="en-US" sz="4020" spc="-12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Study combat radius of different aircraft.</a:t>
            </a:r>
          </a:p>
          <a:p>
            <a:pPr algn="l">
              <a:lnSpc>
                <a:spcPts val="5628"/>
              </a:lnSpc>
            </a:pPr>
            <a:r>
              <a:rPr lang="en-US" sz="4020" spc="-12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•Identify fastest and most expensive aircraft</a:t>
            </a:r>
          </a:p>
          <a:p>
            <a:pPr algn="l">
              <a:lnSpc>
                <a:spcPts val="5628"/>
              </a:lnSpc>
            </a:pPr>
            <a:r>
              <a:rPr lang="en-US" sz="4020" spc="-12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•Analyze aircraft cost by country.</a:t>
            </a:r>
          </a:p>
          <a:p>
            <a:pPr algn="l">
              <a:lnSpc>
                <a:spcPts val="5628"/>
              </a:lnSpc>
            </a:pPr>
            <a:endParaRPr lang="en-US" sz="4020" spc="-128">
              <a:solidFill>
                <a:srgbClr val="140C0C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AutoShape 12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AutoShape 13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8239491" y="3014328"/>
            <a:ext cx="8029301" cy="6125261"/>
          </a:xfrm>
          <a:custGeom>
            <a:avLst/>
            <a:gdLst/>
            <a:ahLst/>
            <a:cxnLst/>
            <a:rect l="l" t="t" r="r" b="b"/>
            <a:pathLst>
              <a:path w="8029301" h="6125261">
                <a:moveTo>
                  <a:pt x="0" y="0"/>
                </a:moveTo>
                <a:lnTo>
                  <a:pt x="8029301" y="0"/>
                </a:lnTo>
                <a:lnTo>
                  <a:pt x="8029301" y="6125261"/>
                </a:lnTo>
                <a:lnTo>
                  <a:pt x="0" y="6125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1818829" y="3332136"/>
            <a:ext cx="4811017" cy="4811017"/>
          </a:xfrm>
          <a:custGeom>
            <a:avLst/>
            <a:gdLst/>
            <a:ahLst/>
            <a:cxnLst/>
            <a:rect l="l" t="t" r="r" b="b"/>
            <a:pathLst>
              <a:path w="4811017" h="4811017">
                <a:moveTo>
                  <a:pt x="0" y="0"/>
                </a:moveTo>
                <a:lnTo>
                  <a:pt x="4811017" y="0"/>
                </a:lnTo>
                <a:lnTo>
                  <a:pt x="4811017" y="4811017"/>
                </a:lnTo>
                <a:lnTo>
                  <a:pt x="0" y="48110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03794" y="1494234"/>
            <a:ext cx="12873020" cy="236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8"/>
              </a:lnSpc>
            </a:pPr>
            <a:r>
              <a:rPr lang="en-US" sz="503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AIRCRAFT PERFORMANCE COMPARISON</a:t>
            </a:r>
          </a:p>
          <a:p>
            <a:pPr algn="l">
              <a:lnSpc>
                <a:spcPts val="12228"/>
              </a:lnSpc>
            </a:pPr>
            <a:endParaRPr lang="en-US" sz="5034" b="1">
              <a:solidFill>
                <a:srgbClr val="140C0C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91676" y="1617938"/>
            <a:ext cx="9483250" cy="125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68"/>
              </a:lnSpc>
            </a:pPr>
            <a:r>
              <a:rPr lang="en-US" sz="733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ADVANTAGES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63860" y="3630024"/>
            <a:ext cx="14584078" cy="3919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3"/>
              </a:lnSpc>
            </a:pPr>
            <a:r>
              <a:rPr lang="en-US" sz="3709" spc="-11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•Provides data-driven insights for better analysis and decision-making.</a:t>
            </a:r>
          </a:p>
          <a:p>
            <a:pPr algn="l">
              <a:lnSpc>
                <a:spcPts val="5193"/>
              </a:lnSpc>
            </a:pPr>
            <a:r>
              <a:rPr lang="en-US" sz="3709" spc="-11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•Identifies trends and patterns in aircraft specifications.</a:t>
            </a:r>
          </a:p>
          <a:p>
            <a:pPr algn="l">
              <a:lnSpc>
                <a:spcPts val="5193"/>
              </a:lnSpc>
            </a:pPr>
            <a:r>
              <a:rPr lang="en-US" sz="3709" spc="-11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•Simplifies complex aircraft data through visualizations.</a:t>
            </a:r>
          </a:p>
          <a:p>
            <a:pPr algn="l">
              <a:lnSpc>
                <a:spcPts val="5193"/>
              </a:lnSpc>
            </a:pPr>
            <a:r>
              <a:rPr lang="en-US" sz="3709" spc="-11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•Enhances understanding of aviation performance metrics.</a:t>
            </a:r>
          </a:p>
          <a:p>
            <a:pPr algn="l">
              <a:lnSpc>
                <a:spcPts val="5193"/>
              </a:lnSpc>
            </a:pPr>
            <a:r>
              <a:rPr lang="en-US" sz="3709" spc="-11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Demonstrates the practical application of data analytics techniques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08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AutoShape 12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AutoShape 13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4048067" y="923925"/>
            <a:ext cx="14033417" cy="2474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88"/>
              </a:lnSpc>
            </a:pPr>
            <a:r>
              <a:rPr lang="en-US" sz="563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SOFTWARE REQUIREMENTS </a:t>
            </a:r>
          </a:p>
          <a:p>
            <a:pPr algn="l">
              <a:lnSpc>
                <a:spcPts val="12228"/>
              </a:lnSpc>
            </a:pPr>
            <a:endParaRPr lang="en-US" sz="5634" b="1">
              <a:solidFill>
                <a:srgbClr val="140C0C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07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E7E89A2-6DC9-50C9-59A0-B43263767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893342"/>
              </p:ext>
            </p:extLst>
          </p:nvPr>
        </p:nvGraphicFramePr>
        <p:xfrm>
          <a:off x="1643397" y="2657186"/>
          <a:ext cx="14033418" cy="6733548"/>
        </p:xfrm>
        <a:graphic>
          <a:graphicData uri="http://schemas.openxmlformats.org/drawingml/2006/table">
            <a:tbl>
              <a:tblPr/>
              <a:tblGrid>
                <a:gridCol w="4677806">
                  <a:extLst>
                    <a:ext uri="{9D8B030D-6E8A-4147-A177-3AD203B41FA5}">
                      <a16:colId xmlns:a16="http://schemas.microsoft.com/office/drawing/2014/main" val="1528556210"/>
                    </a:ext>
                  </a:extLst>
                </a:gridCol>
                <a:gridCol w="4677806">
                  <a:extLst>
                    <a:ext uri="{9D8B030D-6E8A-4147-A177-3AD203B41FA5}">
                      <a16:colId xmlns:a16="http://schemas.microsoft.com/office/drawing/2014/main" val="2396161161"/>
                    </a:ext>
                  </a:extLst>
                </a:gridCol>
                <a:gridCol w="4677806">
                  <a:extLst>
                    <a:ext uri="{9D8B030D-6E8A-4147-A177-3AD203B41FA5}">
                      <a16:colId xmlns:a16="http://schemas.microsoft.com/office/drawing/2014/main" val="160480671"/>
                    </a:ext>
                  </a:extLst>
                </a:gridCol>
              </a:tblGrid>
              <a:tr h="708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S.No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Category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Tools / Technologies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848483"/>
                  </a:ext>
                </a:extLst>
              </a:tr>
              <a:tr h="708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Operating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Windows 10 / Windows 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00841"/>
                  </a:ext>
                </a:extLst>
              </a:tr>
              <a:tr h="708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Programming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 3.x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633607"/>
                  </a:ext>
                </a:extLst>
              </a:tr>
              <a:tr h="12403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Development 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Jupyter</a:t>
                      </a:r>
                      <a:r>
                        <a:rPr lang="en-IN" dirty="0"/>
                        <a:t> Notebook / Google </a:t>
                      </a:r>
                      <a:r>
                        <a:rPr lang="en-IN" dirty="0" err="1"/>
                        <a:t>Colab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057576"/>
                  </a:ext>
                </a:extLst>
              </a:tr>
              <a:tr h="708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 Libraries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Pandas, NumPy, Matplotlib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877330"/>
                  </a:ext>
                </a:extLst>
              </a:tr>
              <a:tr h="708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Dataset 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Kaggle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56636"/>
                  </a:ext>
                </a:extLst>
              </a:tr>
              <a:tr h="12403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Spreadsheet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Microsoft Excel (for data preprocessing)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98104"/>
                  </a:ext>
                </a:extLst>
              </a:tr>
              <a:tr h="708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619174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B14EFEB-8F93-A317-8C5A-07D1773CD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680161"/>
              </p:ext>
            </p:extLst>
          </p:nvPr>
        </p:nvGraphicFramePr>
        <p:xfrm>
          <a:off x="1690255" y="2629529"/>
          <a:ext cx="13993090" cy="602956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993090">
                  <a:extLst>
                    <a:ext uri="{9D8B030D-6E8A-4147-A177-3AD203B41FA5}">
                      <a16:colId xmlns:a16="http://schemas.microsoft.com/office/drawing/2014/main" val="3242668705"/>
                    </a:ext>
                  </a:extLst>
                </a:gridCol>
              </a:tblGrid>
              <a:tr h="602956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96485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69C2417-8DA6-77C1-F518-3FCDBD02F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3494"/>
              </p:ext>
            </p:extLst>
          </p:nvPr>
        </p:nvGraphicFramePr>
        <p:xfrm>
          <a:off x="1690255" y="2604655"/>
          <a:ext cx="13993090" cy="6068290"/>
        </p:xfrm>
        <a:graphic>
          <a:graphicData uri="http://schemas.openxmlformats.org/drawingml/2006/table">
            <a:tbl>
              <a:tblPr/>
              <a:tblGrid>
                <a:gridCol w="13993090">
                  <a:extLst>
                    <a:ext uri="{9D8B030D-6E8A-4147-A177-3AD203B41FA5}">
                      <a16:colId xmlns:a16="http://schemas.microsoft.com/office/drawing/2014/main" val="3619888381"/>
                    </a:ext>
                  </a:extLst>
                </a:gridCol>
              </a:tblGrid>
              <a:tr h="606829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276584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3B44DEF-4E06-1A5A-1441-08E6A3AD87B9}"/>
              </a:ext>
            </a:extLst>
          </p:cNvPr>
          <p:cNvGraphicFramePr>
            <a:graphicFrameLocks noGrp="1"/>
          </p:cNvGraphicFramePr>
          <p:nvPr/>
        </p:nvGraphicFramePr>
        <p:xfrm>
          <a:off x="1690255" y="3338945"/>
          <a:ext cx="13993090" cy="5347855"/>
        </p:xfrm>
        <a:graphic>
          <a:graphicData uri="http://schemas.openxmlformats.org/drawingml/2006/table">
            <a:tbl>
              <a:tblPr/>
              <a:tblGrid>
                <a:gridCol w="13993090">
                  <a:extLst>
                    <a:ext uri="{9D8B030D-6E8A-4147-A177-3AD203B41FA5}">
                      <a16:colId xmlns:a16="http://schemas.microsoft.com/office/drawing/2014/main" val="1397259190"/>
                    </a:ext>
                  </a:extLst>
                </a:gridCol>
              </a:tblGrid>
              <a:tr h="534785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6326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AutoShape 12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AutoShape 13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4224338" y="1178702"/>
            <a:ext cx="9483250" cy="125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68"/>
              </a:lnSpc>
            </a:pPr>
            <a:r>
              <a:rPr lang="en-US" sz="733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LIBRARIES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09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862933E-D7C6-F059-2391-DD498F871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008782"/>
              </p:ext>
            </p:extLst>
          </p:nvPr>
        </p:nvGraphicFramePr>
        <p:xfrm>
          <a:off x="2895600" y="3168860"/>
          <a:ext cx="13030200" cy="5334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5100">
                  <a:extLst>
                    <a:ext uri="{9D8B030D-6E8A-4147-A177-3AD203B41FA5}">
                      <a16:colId xmlns:a16="http://schemas.microsoft.com/office/drawing/2014/main" val="3200485833"/>
                    </a:ext>
                  </a:extLst>
                </a:gridCol>
                <a:gridCol w="6515100">
                  <a:extLst>
                    <a:ext uri="{9D8B030D-6E8A-4147-A177-3AD203B41FA5}">
                      <a16:colId xmlns:a16="http://schemas.microsoft.com/office/drawing/2014/main" val="3658998714"/>
                    </a:ext>
                  </a:extLst>
                </a:gridCol>
              </a:tblGrid>
              <a:tr h="9675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b="1" dirty="0"/>
                        <a:t>Library</a:t>
                      </a:r>
                      <a:endParaRPr lang="en-IN" sz="32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b="1" dirty="0"/>
                        <a:t>Purpose</a:t>
                      </a:r>
                      <a:endParaRPr lang="en-IN" sz="320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474542"/>
                  </a:ext>
                </a:extLst>
              </a:tr>
              <a:tr h="12124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Pandas</a:t>
                      </a:r>
                      <a:endParaRPr lang="en-IN" sz="2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Data cleaning, preprocessing, and analysis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862655"/>
                  </a:ext>
                </a:extLst>
              </a:tr>
              <a:tr h="12124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NumPy</a:t>
                      </a:r>
                      <a:endParaRPr lang="en-IN" sz="2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Numerical computations and array operations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701171"/>
                  </a:ext>
                </a:extLst>
              </a:tr>
              <a:tr h="9675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Matplotlib</a:t>
                      </a:r>
                      <a:endParaRPr lang="en-IN" sz="2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Creating charts and data visualizations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208"/>
                  </a:ext>
                </a:extLst>
              </a:tr>
              <a:tr h="9675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Seaborn</a:t>
                      </a:r>
                      <a:r>
                        <a:rPr lang="en-IN" sz="2800" dirty="0"/>
                        <a:t>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Enhanced statistical visualizations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1909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4048461" y="921197"/>
            <a:ext cx="9483250" cy="125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68"/>
              </a:lnSpc>
            </a:pPr>
            <a:r>
              <a:rPr lang="en-US" sz="733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METHODOLOGY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398209" y="2822286"/>
            <a:ext cx="10783754" cy="677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2742" spc="-87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Dataset Collection</a:t>
            </a:r>
          </a:p>
          <a:p>
            <a:pPr algn="ctr">
              <a:lnSpc>
                <a:spcPts val="3839"/>
              </a:lnSpc>
            </a:pPr>
            <a:r>
              <a:rPr lang="en-US" sz="2742" spc="-87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↓</a:t>
            </a:r>
          </a:p>
          <a:p>
            <a:pPr algn="ctr">
              <a:lnSpc>
                <a:spcPts val="3839"/>
              </a:lnSpc>
            </a:pPr>
            <a:r>
              <a:rPr lang="en-US" sz="2742" spc="-87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Data Cleaning</a:t>
            </a:r>
          </a:p>
          <a:p>
            <a:pPr algn="ctr">
              <a:lnSpc>
                <a:spcPts val="3839"/>
              </a:lnSpc>
            </a:pPr>
            <a:r>
              <a:rPr lang="en-US" sz="2742" spc="-87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 ↓</a:t>
            </a:r>
          </a:p>
          <a:p>
            <a:pPr algn="ctr">
              <a:lnSpc>
                <a:spcPts val="3839"/>
              </a:lnSpc>
            </a:pPr>
            <a:r>
              <a:rPr lang="en-US" sz="2742" spc="-87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Data Processing</a:t>
            </a:r>
          </a:p>
          <a:p>
            <a:pPr algn="ctr">
              <a:lnSpc>
                <a:spcPts val="3839"/>
              </a:lnSpc>
            </a:pPr>
            <a:r>
              <a:rPr lang="en-US" sz="2742" spc="-87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 ↓</a:t>
            </a:r>
          </a:p>
          <a:p>
            <a:pPr algn="ctr">
              <a:lnSpc>
                <a:spcPts val="3839"/>
              </a:lnSpc>
            </a:pPr>
            <a:r>
              <a:rPr lang="en-US" sz="2742" spc="-87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Performance Analysis</a:t>
            </a:r>
          </a:p>
          <a:p>
            <a:pPr algn="ctr">
              <a:lnSpc>
                <a:spcPts val="3839"/>
              </a:lnSpc>
            </a:pPr>
            <a:r>
              <a:rPr lang="en-US" sz="2742" spc="-87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      ↓</a:t>
            </a:r>
          </a:p>
          <a:p>
            <a:pPr algn="ctr">
              <a:lnSpc>
                <a:spcPts val="3839"/>
              </a:lnSpc>
            </a:pPr>
            <a:r>
              <a:rPr lang="en-US" sz="2742" spc="-87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Comparison of Aircraft</a:t>
            </a:r>
          </a:p>
          <a:p>
            <a:pPr algn="ctr">
              <a:lnSpc>
                <a:spcPts val="3839"/>
              </a:lnSpc>
            </a:pPr>
            <a:r>
              <a:rPr lang="en-US" sz="2742" spc="-87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      ↓</a:t>
            </a:r>
          </a:p>
          <a:p>
            <a:pPr algn="ctr">
              <a:lnSpc>
                <a:spcPts val="3839"/>
              </a:lnSpc>
            </a:pPr>
            <a:r>
              <a:rPr lang="en-US" sz="2742" spc="-87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Visualization</a:t>
            </a:r>
          </a:p>
          <a:p>
            <a:pPr algn="ctr">
              <a:lnSpc>
                <a:spcPts val="3839"/>
              </a:lnSpc>
            </a:pPr>
            <a:r>
              <a:rPr lang="en-US" sz="2742" spc="-87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      ↓</a:t>
            </a:r>
          </a:p>
          <a:p>
            <a:pPr algn="ctr">
              <a:lnSpc>
                <a:spcPts val="3839"/>
              </a:lnSpc>
            </a:pPr>
            <a:r>
              <a:rPr lang="en-US" sz="2742" spc="-87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Conclusions</a:t>
            </a:r>
          </a:p>
          <a:p>
            <a:pPr algn="ctr">
              <a:lnSpc>
                <a:spcPts val="3839"/>
              </a:lnSpc>
            </a:pPr>
            <a:endParaRPr lang="en-US" sz="2742" spc="-87">
              <a:solidFill>
                <a:srgbClr val="140C0C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10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11</a:t>
            </a:r>
          </a:p>
        </p:txBody>
      </p:sp>
      <p:sp>
        <p:nvSpPr>
          <p:cNvPr id="13" name="AutoShape 13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AutoShape 14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028700" y="1135198"/>
            <a:ext cx="5073605" cy="125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22"/>
              </a:lnSpc>
            </a:pPr>
            <a:r>
              <a:rPr lang="en-US" sz="7302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RESULTS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96204" y="3064103"/>
            <a:ext cx="14325739" cy="454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9042" lvl="1" indent="-399521" algn="l">
              <a:lnSpc>
                <a:spcPts val="5181"/>
              </a:lnSpc>
              <a:buFont typeface="Arial"/>
              <a:buChar char="•"/>
            </a:pPr>
            <a:r>
              <a:rPr lang="en-US" sz="370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Average speed of aircraft by country was analysed.</a:t>
            </a:r>
          </a:p>
          <a:p>
            <a:pPr marL="799042" lvl="1" indent="-399521" algn="l">
              <a:lnSpc>
                <a:spcPts val="5181"/>
              </a:lnSpc>
              <a:buFont typeface="Arial"/>
              <a:buChar char="•"/>
            </a:pPr>
            <a:r>
              <a:rPr lang="en-US" sz="370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Combat radius was compared based on aircraft generation.</a:t>
            </a:r>
          </a:p>
          <a:p>
            <a:pPr marL="799042" lvl="1" indent="-399521" algn="l">
              <a:lnSpc>
                <a:spcPts val="5181"/>
              </a:lnSpc>
              <a:buFont typeface="Arial"/>
              <a:buChar char="•"/>
            </a:pPr>
            <a:r>
              <a:rPr lang="en-US" sz="370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Unit cost comparison was performed for different countries.</a:t>
            </a:r>
          </a:p>
          <a:p>
            <a:pPr marL="799042" lvl="1" indent="-399521" algn="l">
              <a:lnSpc>
                <a:spcPts val="5181"/>
              </a:lnSpc>
              <a:buFont typeface="Arial"/>
              <a:buChar char="•"/>
            </a:pPr>
            <a:r>
              <a:rPr lang="en-US" sz="370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Fastest and slowest aircraft were identified.</a:t>
            </a:r>
          </a:p>
          <a:p>
            <a:pPr marL="799042" lvl="1" indent="-399521" algn="l">
              <a:lnSpc>
                <a:spcPts val="5181"/>
              </a:lnSpc>
              <a:buFont typeface="Arial"/>
              <a:buChar char="•"/>
            </a:pPr>
            <a:r>
              <a:rPr lang="en-US" sz="370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Most expensive and cheapest aircraft were found.</a:t>
            </a:r>
          </a:p>
          <a:p>
            <a:pPr marL="799042" lvl="1" indent="-399521" algn="l">
              <a:lnSpc>
                <a:spcPts val="5181"/>
              </a:lnSpc>
              <a:buFont typeface="Arial"/>
              <a:buChar char="•"/>
            </a:pPr>
            <a:r>
              <a:rPr lang="en-US" sz="370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Aircraft with highest combat radius was identified.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3947215" y="8391635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993352" y="-7199611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272179" y="8732786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453346" y="-1554214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7626910" y="1521224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6389552" y="9079609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11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7360865" y="9593860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AutoShape 13"/>
          <p:cNvSpPr/>
          <p:nvPr/>
        </p:nvSpPr>
        <p:spPr>
          <a:xfrm flipV="1">
            <a:off x="5300911" y="782730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602804" y="1592431"/>
            <a:ext cx="6397501" cy="1144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9"/>
              </a:lnSpc>
            </a:pPr>
            <a:r>
              <a:rPr lang="en-US" sz="7308" b="1" spc="-233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  <a:p>
            <a:pPr algn="l">
              <a:lnSpc>
                <a:spcPts val="2451"/>
              </a:lnSpc>
            </a:pPr>
            <a:endParaRPr lang="en-US" sz="7308" b="1" spc="-233">
              <a:solidFill>
                <a:srgbClr val="140C0C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602804" y="2641979"/>
            <a:ext cx="15082391" cy="5439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30"/>
              </a:lnSpc>
            </a:pPr>
            <a:endParaRPr/>
          </a:p>
          <a:p>
            <a:pPr algn="l">
              <a:lnSpc>
                <a:spcPts val="4559"/>
              </a:lnSpc>
            </a:pPr>
            <a:r>
              <a:rPr lang="en-US" sz="3256">
                <a:solidFill>
                  <a:srgbClr val="140C0C"/>
                </a:solidFill>
                <a:latin typeface="Lato"/>
                <a:ea typeface="Lato"/>
                <a:cs typeface="Lato"/>
                <a:sym typeface="Lato"/>
              </a:rPr>
              <a:t>THIS PROJECT ANALYZED MILITARY AIRCRAFT PERFORMANCE USING KEY PARAMETERS SUCH AS SPEED, COMBAT RADIUS, AND COST. DIFFERENT AIRCRAFT WERE COMPARED TO IDENTIFY TOP-PERFORMING MODELS AND UNDERSTAND PERFORMANCE TRENDS. DATA VISUALIZATION HELPED SIMPLIFY COMPLEX INFORMATION AND GENERATE MEANINGFUL INSIGHTS. OVERALL, THE PROJECT DEMONSTRATED THE EFFECTIVENESS OF DATA ANALYTICS IN EVALUATING MILITARY AVIATION CAPABILITIES.</a:t>
            </a:r>
          </a:p>
          <a:p>
            <a:pPr algn="l">
              <a:lnSpc>
                <a:spcPts val="4835"/>
              </a:lnSpc>
            </a:pPr>
            <a:endParaRPr lang="en-US" sz="3256">
              <a:solidFill>
                <a:srgbClr val="140C0C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3794815" y="8544035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4145752" y="-7047211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119779" y="8885186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605746" y="-1401814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7779310" y="1673624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6541952" y="9232009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11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7513265" y="9746260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AutoShape 13"/>
          <p:cNvSpPr/>
          <p:nvPr/>
        </p:nvSpPr>
        <p:spPr>
          <a:xfrm>
            <a:off x="5453311" y="935130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742113" y="1516369"/>
            <a:ext cx="7401887" cy="1145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4"/>
              </a:lnSpc>
            </a:pPr>
            <a:r>
              <a:rPr lang="en-US" sz="7143" b="1" spc="-228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</a:t>
            </a:r>
          </a:p>
          <a:p>
            <a:pPr algn="l">
              <a:lnSpc>
                <a:spcPts val="2499"/>
              </a:lnSpc>
            </a:pPr>
            <a:endParaRPr lang="en-US" sz="7143" b="1" spc="-228">
              <a:solidFill>
                <a:srgbClr val="140C0C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42113" y="3224355"/>
            <a:ext cx="15793993" cy="36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4728" lvl="1" indent="-377364" algn="l">
              <a:lnSpc>
                <a:spcPts val="4894"/>
              </a:lnSpc>
              <a:buFont typeface="Arial"/>
              <a:buChar char="•"/>
            </a:pPr>
            <a:r>
              <a:rPr lang="en-US" sz="3495">
                <a:solidFill>
                  <a:srgbClr val="140C0C"/>
                </a:solidFill>
                <a:latin typeface="Lato"/>
                <a:ea typeface="Lato"/>
                <a:cs typeface="Lato"/>
                <a:sym typeface="Lato"/>
              </a:rPr>
              <a:t>Kaggle Datasets –</a:t>
            </a:r>
            <a:r>
              <a:rPr lang="en-US" sz="3495" u="sng">
                <a:solidFill>
                  <a:srgbClr val="004AAD"/>
                </a:solidFill>
                <a:latin typeface="Lato"/>
                <a:ea typeface="Lato"/>
                <a:cs typeface="Lato"/>
                <a:sym typeface="Lato"/>
                <a:hlinkClick r:id="rId6" tooltip="https://www.kaggle.com"/>
              </a:rPr>
              <a:t>https://www.kaggle.com</a:t>
            </a:r>
            <a:r>
              <a:rPr lang="en-US" sz="3495">
                <a:solidFill>
                  <a:srgbClr val="140C0C"/>
                </a:solidFill>
                <a:latin typeface="Lato"/>
                <a:ea typeface="Lato"/>
                <a:cs typeface="Lato"/>
                <a:sym typeface="Lato"/>
              </a:rPr>
              <a:t>   </a:t>
            </a:r>
          </a:p>
          <a:p>
            <a:pPr marL="754728" lvl="1" indent="-377364" algn="l">
              <a:lnSpc>
                <a:spcPts val="4894"/>
              </a:lnSpc>
              <a:buFont typeface="Arial"/>
              <a:buChar char="•"/>
            </a:pPr>
            <a:r>
              <a:rPr lang="en-US" sz="3495">
                <a:solidFill>
                  <a:srgbClr val="140C0C"/>
                </a:solidFill>
                <a:latin typeface="Lato"/>
                <a:ea typeface="Lato"/>
                <a:cs typeface="Lato"/>
                <a:sym typeface="Lato"/>
              </a:rPr>
              <a:t>Python Official Documentation-</a:t>
            </a:r>
            <a:r>
              <a:rPr lang="en-US" sz="3495" u="sng">
                <a:solidFill>
                  <a:srgbClr val="004AAD"/>
                </a:solidFill>
                <a:latin typeface="Lato"/>
                <a:ea typeface="Lato"/>
                <a:cs typeface="Lato"/>
                <a:sym typeface="Lato"/>
                <a:hlinkClick r:id="rId7" tooltip="https://docs.python.org"/>
              </a:rPr>
              <a:t>https://docs.python.org</a:t>
            </a:r>
            <a:r>
              <a:rPr lang="en-US" sz="3495">
                <a:solidFill>
                  <a:srgbClr val="004AAD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marL="754728" lvl="1" indent="-377364" algn="l">
              <a:lnSpc>
                <a:spcPts val="4894"/>
              </a:lnSpc>
              <a:buFont typeface="Arial"/>
              <a:buChar char="•"/>
            </a:pPr>
            <a:r>
              <a:rPr lang="en-US" sz="3495">
                <a:solidFill>
                  <a:srgbClr val="140C0C"/>
                </a:solidFill>
                <a:latin typeface="Lato"/>
                <a:ea typeface="Lato"/>
                <a:cs typeface="Lato"/>
                <a:sym typeface="Lato"/>
              </a:rPr>
              <a:t> NumPy Documentation-</a:t>
            </a:r>
            <a:r>
              <a:rPr lang="en-US" sz="3495" u="sng">
                <a:solidFill>
                  <a:srgbClr val="004AAD"/>
                </a:solidFill>
                <a:latin typeface="Lato"/>
                <a:ea typeface="Lato"/>
                <a:cs typeface="Lato"/>
                <a:sym typeface="Lato"/>
                <a:hlinkClick r:id="rId8" tooltip="https://numpy.org/doc"/>
              </a:rPr>
              <a:t>https://numpy.org/doc</a:t>
            </a:r>
            <a:r>
              <a:rPr lang="en-US" sz="3495" u="sng">
                <a:solidFill>
                  <a:srgbClr val="140C0C"/>
                </a:solidFill>
                <a:latin typeface="Lato"/>
                <a:ea typeface="Lato"/>
                <a:cs typeface="Lato"/>
                <a:sym typeface="Lato"/>
                <a:hlinkClick r:id="rId8" tooltip="https://numpy.org/doc"/>
              </a:rPr>
              <a:t> </a:t>
            </a:r>
            <a:r>
              <a:rPr lang="en-US" sz="3495">
                <a:solidFill>
                  <a:srgbClr val="140C0C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marL="754728" lvl="1" indent="-377364" algn="l">
              <a:lnSpc>
                <a:spcPts val="4894"/>
              </a:lnSpc>
              <a:buFont typeface="Arial"/>
              <a:buChar char="•"/>
            </a:pPr>
            <a:r>
              <a:rPr lang="en-US" sz="3495">
                <a:solidFill>
                  <a:srgbClr val="140C0C"/>
                </a:solidFill>
                <a:latin typeface="Lato"/>
                <a:ea typeface="Lato"/>
                <a:cs typeface="Lato"/>
                <a:sym typeface="Lato"/>
              </a:rPr>
              <a:t> Pandas Documentation-</a:t>
            </a:r>
            <a:r>
              <a:rPr lang="en-US" sz="3495" u="sng">
                <a:solidFill>
                  <a:srgbClr val="004AAD"/>
                </a:solidFill>
                <a:latin typeface="Lato"/>
                <a:ea typeface="Lato"/>
                <a:cs typeface="Lato"/>
                <a:sym typeface="Lato"/>
                <a:hlinkClick r:id="rId9" tooltip="https://pandas.pydata.org/docs"/>
              </a:rPr>
              <a:t>https://pandas.pydata.org/docs</a:t>
            </a:r>
            <a:r>
              <a:rPr lang="en-US" sz="3495" u="sng">
                <a:solidFill>
                  <a:srgbClr val="140C0C"/>
                </a:solidFill>
                <a:latin typeface="Lato"/>
                <a:ea typeface="Lato"/>
                <a:cs typeface="Lato"/>
                <a:sym typeface="Lato"/>
                <a:hlinkClick r:id="rId9" tooltip="https://pandas.pydata.org/docs"/>
              </a:rPr>
              <a:t> </a:t>
            </a:r>
            <a:r>
              <a:rPr lang="en-US" sz="3495">
                <a:solidFill>
                  <a:srgbClr val="140C0C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marL="754728" lvl="1" indent="-377364" algn="l">
              <a:lnSpc>
                <a:spcPts val="4894"/>
              </a:lnSpc>
              <a:buFont typeface="Arial"/>
              <a:buChar char="•"/>
            </a:pPr>
            <a:r>
              <a:rPr lang="en-US" sz="3495">
                <a:solidFill>
                  <a:srgbClr val="140C0C"/>
                </a:solidFill>
                <a:latin typeface="Lato"/>
                <a:ea typeface="Lato"/>
                <a:cs typeface="Lato"/>
                <a:sym typeface="Lato"/>
              </a:rPr>
              <a:t> Matplotlib Documentation- </a:t>
            </a:r>
            <a:r>
              <a:rPr lang="en-US" sz="3495" u="sng">
                <a:solidFill>
                  <a:srgbClr val="004AAD"/>
                </a:solidFill>
                <a:latin typeface="Lato"/>
                <a:ea typeface="Lato"/>
                <a:cs typeface="Lato"/>
                <a:sym typeface="Lato"/>
                <a:hlinkClick r:id="rId10" tooltip="https://matplotlib.org/stable/users/index.html"/>
              </a:rPr>
              <a:t>https://matplotlib.org/stable/users/index.html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3642415" y="8696435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4298152" y="-6894811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967379" y="9037586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758146" y="-1249414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7931710" y="1826024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6694352" y="9384409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11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605711" y="1087530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2166559" y="3859211"/>
            <a:ext cx="13789606" cy="217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1"/>
              </a:lnSpc>
            </a:pPr>
            <a:r>
              <a:rPr lang="en-US" sz="12700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541</Words>
  <Application>Microsoft Office PowerPoint</Application>
  <PresentationFormat>Custom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Calibri</vt:lpstr>
      <vt:lpstr>Lato Bold</vt:lpstr>
      <vt:lpstr>Canva Sans</vt:lpstr>
      <vt:lpstr>Canva Sans Bold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Kaggle Datasets –https://www.kaggle.com Python Official Documentation-https://docs.python.org NumPy Documentation-https://numpy.org/doc Pandas Documentation-https://pandas.pydata.org/docs Matplotlib</dc:title>
  <dc:creator>Indu 64</dc:creator>
  <cp:lastModifiedBy>Indu 64</cp:lastModifiedBy>
  <cp:revision>2</cp:revision>
  <dcterms:created xsi:type="dcterms:W3CDTF">2006-08-16T00:00:00Z</dcterms:created>
  <dcterms:modified xsi:type="dcterms:W3CDTF">2026-07-01T10:27:32Z</dcterms:modified>
  <dc:identifier>DAHNwUeQmGU</dc:identifier>
</cp:coreProperties>
</file>